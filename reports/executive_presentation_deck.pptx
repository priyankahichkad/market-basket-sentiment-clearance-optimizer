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E-Commerce Inventory Markdown &amp;</a:t>
            </a:r>
            <a:br/>
            <a:r>
              <a:t>Basket Sentiment Intelligence</a:t>
            </a:r>
          </a:p>
          <a:p>
            <a:pPr>
              <a:spcBef>
                <a:spcPts val="1500"/>
              </a:spcBef>
              <a:defRPr sz="1800">
                <a:solidFill>
                  <a:srgbClr val="0072CE"/>
                </a:solidFill>
              </a:defRPr>
            </a:pPr>
            <a:r>
              <a:t>Protecting Gross Margin Return on Inventory (GMROI) via Market Basket Bundling &amp; NLP Review Diagnostics</a:t>
            </a:r>
          </a:p>
          <a:p>
            <a:pPr>
              <a:spcBef>
                <a:spcPts val="3000"/>
              </a:spcBef>
              <a:defRPr sz="1300">
                <a:solidFill>
                  <a:srgbClr val="B4C8DC"/>
                </a:solidFill>
              </a:defRPr>
            </a:pPr>
            <a:r>
              <a:t>Target Audience: Chief Merchandising Officer | VP of Supply Chain | Retail Business Analysts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Retail Dilemma: End-of-Season Clearance &amp; Margin Erosion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534F"/>
                </a:solidFill>
              </a:defRPr>
            </a:pPr>
            <a:r>
              <a:t>Traditional Clearance Pitfalls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Flat 50-70% Price Slashes: Destroys product brand equity and erodes gross margins below COGS.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Blind Discounting: Slashes prices on items stagnant due to sizing flaws, which discounts won't solve.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Holding Capital Trap: Slow-moving C-Class inventory locks up cash flow and incurs 20-30% annual holding costs.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Siloed Analytics: Merchandisers look at velocity in isolation from customer feedback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The Intelligent Bundling Solution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Data-Driven Co-Purchasing: Pair slow C-Class items with high-demand A-Class anchor products using Apriori algorithm.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Root-Cause NLP Diagnostics: Distinguish pricing resistance from physical quality/fit defects using VADER sentiment.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GMROI Maximization: Preserve gross margin dollars while accelerating inventory turnover.</a:t>
            </a:r>
          </a:p>
          <a:p>
            <a:pPr>
              <a:spcBef>
                <a:spcPts val="1200"/>
              </a:spcBef>
              <a:defRPr sz="1300">
                <a:solidFill>
                  <a:srgbClr val="323232"/>
                </a:solidFill>
              </a:defRPr>
            </a:pPr>
            <a:r>
              <a:t>• Dynamic Markdown Tiers: Tailor bundle discounts (15-25%) to maximize total basket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Analytical Framework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72CE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400" b="1">
                <a:solidFill>
                  <a:srgbClr val="102542"/>
                </a:solidFill>
              </a:defRPr>
            </a:pPr>
            <a:r>
              <a:t>Pillar 1: Data Pipeline</a:t>
            </a:r>
          </a:p>
          <a:p>
            <a:pPr>
              <a:spcBef>
                <a:spcPts val="1000"/>
              </a:spcBef>
              <a:defRPr sz="1200">
                <a:solidFill>
                  <a:srgbClr val="323232"/>
                </a:solidFill>
              </a:defRPr>
            </a:pPr>
            <a:r>
              <a:t>Clean real-world sales transactions &amp; customer review text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2542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400" b="1">
                <a:solidFill>
                  <a:srgbClr val="102542"/>
                </a:solidFill>
              </a:defRPr>
            </a:pPr>
            <a:r>
              <a:t>Pillar 2: GMROI &amp; ABC</a:t>
            </a:r>
          </a:p>
          <a:p>
            <a:pPr>
              <a:spcBef>
                <a:spcPts val="1000"/>
              </a:spcBef>
              <a:defRPr sz="1200">
                <a:solidFill>
                  <a:srgbClr val="323232"/>
                </a:solidFill>
              </a:defRPr>
            </a:pPr>
            <a:r>
              <a:t>Categorize inventory into A/B/C velocity tiers &amp; calculate GMROI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72CE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400" b="1">
                <a:solidFill>
                  <a:srgbClr val="102542"/>
                </a:solidFill>
              </a:defRPr>
            </a:pPr>
            <a:r>
              <a:t>Pillar 3: Market Basket AI</a:t>
            </a:r>
          </a:p>
          <a:p>
            <a:pPr>
              <a:spcBef>
                <a:spcPts val="1000"/>
              </a:spcBef>
              <a:defRPr sz="1200">
                <a:solidFill>
                  <a:srgbClr val="323232"/>
                </a:solidFill>
              </a:defRPr>
            </a:pPr>
            <a:r>
              <a:t>Mine Apriori association rules (Support, Confidence, Lift) for bundles.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28B22"/>
                </a:solidFill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400" b="1">
                <a:solidFill>
                  <a:srgbClr val="102542"/>
                </a:solidFill>
              </a:defRPr>
            </a:pPr>
            <a:r>
              <a:t>Pillar 4: Dynamic Markdown</a:t>
            </a:r>
          </a:p>
          <a:p>
            <a:pPr>
              <a:spcBef>
                <a:spcPts val="1000"/>
              </a:spcBef>
              <a:defRPr sz="1200">
                <a:solidFill>
                  <a:srgbClr val="323232"/>
                </a:solidFill>
              </a:defRPr>
            </a:pPr>
            <a:r>
              <a:t>Optimize bundle discount tiers to maximize net profit recovery.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Inventory Portfolio Diagnostics: ABC Classification &amp; GMROI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Pareto Velocity Distribution &amp; Inventory Capital Efficiency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Class A SKUs (Top 70% Revenue): High velocity anchors. Target GMROI &gt; 3.0. Must never be discounted standalone.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Class B SKUs (Next 20% Revenue): Moderate movers. Balanced inventory turnover and healthy gross margins.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Class C SKUs (Tail 10% Revenue): Slow-moving inventory representing 40%+ of total stock capital.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Dead Stock Risk (GMROI &lt; 1.2): High holding cost burden eating into operating cash flow.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Strategic Objective: Use Class A anchors as traffic drivers to clear Class C inventory via smart co-purchasing bundles.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NLP Customer Review Diagnostics: Root Cause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8B22"/>
                </a:solidFill>
              </a:defRPr>
            </a:pPr>
            <a:r>
              <a:t>Price Resistance</a:t>
            </a:r>
          </a:p>
          <a:p>
            <a:pPr>
              <a:spcBef>
                <a:spcPts val="1500"/>
              </a:spcBef>
              <a:defRPr sz="1300">
                <a:solidFill>
                  <a:srgbClr val="323232"/>
                </a:solidFill>
              </a:defRPr>
            </a:pPr>
            <a:r>
              <a:t>Feedback indicating item is overpriced or poor value. Solvable by bundle discounts.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534F"/>
                </a:solidFill>
              </a:defRPr>
            </a:pPr>
            <a:r>
              <a:t>Sizing / Fit Flaws</a:t>
            </a:r>
          </a:p>
          <a:p>
            <a:pPr>
              <a:spcBef>
                <a:spcPts val="1500"/>
              </a:spcBef>
              <a:defRPr sz="1300">
                <a:solidFill>
                  <a:srgbClr val="323232"/>
                </a:solidFill>
              </a:defRPr>
            </a:pPr>
            <a:r>
              <a:t>Complaints about incorrect sizing or poor cut. Slashes won't fix high return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t>Fabric / Quality Issues</a:t>
            </a:r>
          </a:p>
          <a:p>
            <a:pPr>
              <a:spcBef>
                <a:spcPts val="1500"/>
              </a:spcBef>
              <a:defRPr sz="1300">
                <a:solidFill>
                  <a:srgbClr val="323232"/>
                </a:solidFill>
              </a:defRPr>
            </a:pPr>
            <a:r>
              <a:t>Issues with material durability or color fading. Candidate for vendor 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Market Basket Analysis: Apriori Co-Purchasing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Uncovering Product Affinity &amp; Cross-Selling Pairs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Support Metric: Frequency of basket co-occurrence across transactions (min_support = 0.005).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Confidence Metric: Conditional probability of buying Slow-Mover B given Anchor A is in cart.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Lift Metric (Lift &gt; 1.2): Quantifies how much more frequently two items are bought together than by random chance.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High-Lift Bundle Pairing: Pairing high-lift accessories/apparel anchors with stagnant C-Class stock guarantees natural customer interest.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Cross-Category Synergies: Combining footwear anchors with slow-moving clothing items yields highest bundle conversion.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Dynamic Markdown Strategy vs. Standalone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Mathematical Model for Margin Protection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1. Standalone Clearance: Price slashed by 50%. Margin drops below unit cost + holding overhead.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2. Smart Bundle Discount: 15-20% discount applied to combined basket (Anchor + Slow Mover).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3. Gross Margin Dollar Preservation: High margin on Anchor SKU absorbs bundle discount, protecting total dollar profitability.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4. Inventory Velocity Acceleration: Bundles cross-sell stagnant stock by pairing it with high-frequency anchors.</a:t>
            </a:r>
          </a:p>
          <a:p>
            <a:pPr>
              <a:spcBef>
                <a:spcPts val="1200"/>
              </a:spcBef>
              <a:defRPr sz="1400">
                <a:solidFill>
                  <a:srgbClr val="323232"/>
                </a:solidFill>
              </a:defRPr>
            </a:pPr>
            <a:r>
              <a:t>5. Holding Cost Savings: Mitigates holding cost burden across identified dead stock SKUs.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Financial Impact &amp; Inventory Risk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Empirical Findings &amp; Portfolio Analytics Summary</a:t>
            </a:r>
          </a:p>
          <a:p>
            <a:pPr>
              <a:spcBef>
                <a:spcPts val="1600"/>
              </a:spcBef>
              <a:defRPr sz="1400">
                <a:solidFill>
                  <a:srgbClr val="323232"/>
                </a:solidFill>
              </a:defRPr>
            </a:pPr>
            <a:r>
              <a:t>• Catalog Risk Exposure: Identified 2,609 slow-moving C-Class SKUs (66.5% of catalog) generating only 10% of revenue.</a:t>
            </a:r>
          </a:p>
          <a:p>
            <a:pPr>
              <a:spcBef>
                <a:spcPts val="1600"/>
              </a:spcBef>
              <a:defRPr sz="1400">
                <a:solidFill>
                  <a:srgbClr val="323232"/>
                </a:solidFill>
              </a:defRPr>
            </a:pPr>
            <a:r>
              <a:t>• Trapped Inventory Capital: $1.33M in capital trapped across 2,333 dead stock SKUs with GMROI &lt; 1.20x.</a:t>
            </a:r>
          </a:p>
          <a:p>
            <a:pPr>
              <a:spcBef>
                <a:spcPts val="1600"/>
              </a:spcBef>
              <a:defRPr sz="1400">
                <a:solidFill>
                  <a:srgbClr val="323232"/>
                </a:solidFill>
              </a:defRPr>
            </a:pPr>
            <a:r>
              <a:t>• Sentiment Root Causes: 53.9% of negative reviews driven by sizing/fit flaws where price discounting is counterproductive.</a:t>
            </a:r>
          </a:p>
          <a:p>
            <a:pPr>
              <a:spcBef>
                <a:spcPts val="1600"/>
              </a:spcBef>
              <a:defRPr sz="1400">
                <a:solidFill>
                  <a:srgbClr val="323232"/>
                </a:solidFill>
              </a:defRPr>
            </a:pPr>
            <a:r>
              <a:t>• High-Affinity Cross-Tier Bundles: Mined 50 bundle pairs combining anchors and slow-movers with an average Lift of 4.83x.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Merchandising Control Tower &amp; Power BI Specs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Decision Support Portal Features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Executive Overview: Real-time inventory capital at risk, average GMROI, and clearance targets.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Interactive Bundle Simulator: Select any slow-moving SKU, pair with recommended anchors, adjust discount slider, and view real-time margin delta.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Review Sentiment Deep-Dive: Filter products by sentiment polarity and inspect root cause word clouds.</a:t>
            </a:r>
          </a:p>
          <a:p>
            <a:pPr>
              <a:spcBef>
                <a:spcPts val="1400"/>
              </a:spcBef>
              <a:defRPr sz="1400">
                <a:solidFill>
                  <a:srgbClr val="323232"/>
                </a:solidFill>
              </a:defRPr>
            </a:pPr>
            <a:r>
              <a:t>• Power BI / Tableau Export: Pre-configured DAX calculated measures (GMROI, ABC Class, Lift, Margin Recovery).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RETAIL STRATEGY &amp; 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Strategic Recommendations &amp; Action Plan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Phase 1: Automated Alerts</a:t>
            </a:r>
          </a:p>
          <a:p>
            <a:pPr>
              <a:spcBef>
                <a:spcPts val="400"/>
              </a:spcBef>
              <a:defRPr sz="1200">
                <a:solidFill>
                  <a:srgbClr val="323232"/>
                </a:solidFill>
              </a:defRPr>
            </a:pPr>
            <a:r>
              <a:t>Deploy automated GMROI &lt; 1.2 triggers in ERP to flag stagnant SKUs at Day 45.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Phase 2: Sentiment Filtering</a:t>
            </a:r>
          </a:p>
          <a:p>
            <a:pPr>
              <a:spcBef>
                <a:spcPts val="400"/>
              </a:spcBef>
              <a:defRPr sz="1200">
                <a:solidFill>
                  <a:srgbClr val="323232"/>
                </a:solidFill>
              </a:defRPr>
            </a:pPr>
            <a:r>
              <a:t>Run NLP sentiment diagnostics to separate pricing issues from sizing defects.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Phase 3: Automated Bundling</a:t>
            </a:r>
          </a:p>
          <a:p>
            <a:pPr>
              <a:spcBef>
                <a:spcPts val="400"/>
              </a:spcBef>
              <a:defRPr sz="1200">
                <a:solidFill>
                  <a:srgbClr val="323232"/>
                </a:solidFill>
              </a:defRPr>
            </a:pPr>
            <a:r>
              <a:t>Push high-lift Apriori bundle pairs directly to e-commerce recommendation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Phase 4: Dynamic Pricing</a:t>
            </a:r>
          </a:p>
          <a:p>
            <a:pPr>
              <a:spcBef>
                <a:spcPts val="400"/>
              </a:spcBef>
              <a:defRPr sz="1200">
                <a:solidFill>
                  <a:srgbClr val="323232"/>
                </a:solidFill>
              </a:defRPr>
            </a:pPr>
            <a:r>
              <a:t>Automate dynamic 15-20% bundle checkout discounts for targeted inventory.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