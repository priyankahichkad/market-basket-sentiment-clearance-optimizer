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025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1828800"/>
            <a:ext cx="10362895" cy="3200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600" b="1">
                <a:solidFill>
                  <a:srgbClr val="FFFFFF"/>
                </a:solidFill>
              </a:defRPr>
            </a:pPr>
            <a:r>
              <a:t>E-Commerce Inventory Markdown &amp;</a:t>
            </a:r>
            <a:br/>
            <a:r>
              <a:t>Basket Sentiment Intelligence</a:t>
            </a:r>
          </a:p>
          <a:p>
            <a:pPr>
              <a:spcBef>
                <a:spcPts val="1500"/>
              </a:spcBef>
              <a:defRPr sz="1800">
                <a:solidFill>
                  <a:srgbClr val="0072CE"/>
                </a:solidFill>
              </a:defRPr>
            </a:pPr>
            <a:r>
              <a:t>Protecting Gross Margin Return on Inventory (GMROI) via Market Basket Bundling &amp; NLP Review Diagnostics</a:t>
            </a:r>
          </a:p>
          <a:p>
            <a:pPr>
              <a:spcBef>
                <a:spcPts val="3000"/>
              </a:spcBef>
              <a:defRPr sz="1300">
                <a:solidFill>
                  <a:srgbClr val="B4C8DC"/>
                </a:solidFill>
              </a:defRPr>
            </a:pPr>
            <a:r>
              <a:t>Target Audience: Chief Merchandising Officer | VP of Supply Chain | Retail Business Analysts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1025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137160"/>
            <a:ext cx="105156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 b="1">
                <a:solidFill>
                  <a:srgbClr val="0072CE"/>
                </a:solidFill>
              </a:defRPr>
            </a:pPr>
            <a:r>
              <a:t>RETAIL STRATEGY &amp; SUPPLY CHAIN ANALYTICS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365760"/>
            <a:ext cx="10515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solidFill>
                  <a:srgbClr val="FFFFFF"/>
                </a:solidFill>
              </a:defRPr>
            </a:pPr>
            <a:r>
              <a:t>The Retail Dilemma: End-of-Season Clearance &amp; Margin Erosion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371600"/>
            <a:ext cx="5120640" cy="4754880"/>
          </a:xfrm>
          <a:prstGeom prst="roundRect">
            <a:avLst/>
          </a:prstGeom>
          <a:solidFill>
            <a:srgbClr val="F5F7FA"/>
          </a:solidFill>
          <a:ln w="25400">
            <a:solidFill>
              <a:srgbClr val="D9534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800" b="1">
                <a:solidFill>
                  <a:srgbClr val="D9534F"/>
                </a:solidFill>
              </a:defRPr>
            </a:pPr>
            <a:r>
              <a:t>Traditional Clearance Pitfalls</a:t>
            </a:r>
          </a:p>
          <a:p>
            <a:pPr>
              <a:spcBef>
                <a:spcPts val="1200"/>
              </a:spcBef>
              <a:defRPr sz="1300">
                <a:solidFill>
                  <a:srgbClr val="323232"/>
                </a:solidFill>
              </a:defRPr>
            </a:pPr>
            <a:r>
              <a:t>• Flat 50-70% Price Slashes: Destroys product brand equity and erodes gross margins below COGS.</a:t>
            </a:r>
          </a:p>
          <a:p>
            <a:pPr>
              <a:spcBef>
                <a:spcPts val="1200"/>
              </a:spcBef>
              <a:defRPr sz="1300">
                <a:solidFill>
                  <a:srgbClr val="323232"/>
                </a:solidFill>
              </a:defRPr>
            </a:pPr>
            <a:r>
              <a:t>• Blind Discounting: Slashes prices on items stagnant due to sizing flaws, which discounts won't solve.</a:t>
            </a:r>
          </a:p>
          <a:p>
            <a:pPr>
              <a:spcBef>
                <a:spcPts val="1200"/>
              </a:spcBef>
              <a:defRPr sz="1300">
                <a:solidFill>
                  <a:srgbClr val="323232"/>
                </a:solidFill>
              </a:defRPr>
            </a:pPr>
            <a:r>
              <a:t>• Holding Capital Trap: Slow-moving C-Class inventory locks up cash flow and incurs 20-30% annual holding costs.</a:t>
            </a:r>
          </a:p>
          <a:p>
            <a:pPr>
              <a:spcBef>
                <a:spcPts val="1200"/>
              </a:spcBef>
              <a:defRPr sz="1300">
                <a:solidFill>
                  <a:srgbClr val="323232"/>
                </a:solidFill>
              </a:defRPr>
            </a:pPr>
            <a:r>
              <a:t>• Siloed Analytics: Merchandisers look at velocity in isolation from customer feedback text.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309360" y="1371600"/>
            <a:ext cx="5120640" cy="4754880"/>
          </a:xfrm>
          <a:prstGeom prst="roundRect">
            <a:avLst/>
          </a:prstGeom>
          <a:solidFill>
            <a:srgbClr val="F5F7FA"/>
          </a:solidFill>
          <a:ln w="25400">
            <a:solidFill>
              <a:srgbClr val="228B2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800" b="1">
                <a:solidFill>
                  <a:srgbClr val="228B22"/>
                </a:solidFill>
              </a:defRPr>
            </a:pPr>
            <a:r>
              <a:t>The Intelligent Bundling Solution</a:t>
            </a:r>
          </a:p>
          <a:p>
            <a:pPr>
              <a:spcBef>
                <a:spcPts val="1200"/>
              </a:spcBef>
              <a:defRPr sz="1300">
                <a:solidFill>
                  <a:srgbClr val="323232"/>
                </a:solidFill>
              </a:defRPr>
            </a:pPr>
            <a:r>
              <a:t>• Data-Driven Co-Purchasing: Pair slow C-Class items with high-demand A-Class anchor products using Apriori algorithm.</a:t>
            </a:r>
          </a:p>
          <a:p>
            <a:pPr>
              <a:spcBef>
                <a:spcPts val="1200"/>
              </a:spcBef>
              <a:defRPr sz="1300">
                <a:solidFill>
                  <a:srgbClr val="323232"/>
                </a:solidFill>
              </a:defRPr>
            </a:pPr>
            <a:r>
              <a:t>• Root-Cause NLP Diagnostics: Distinguish pricing resistance from physical quality/fit defects using VADER sentiment.</a:t>
            </a:r>
          </a:p>
          <a:p>
            <a:pPr>
              <a:spcBef>
                <a:spcPts val="1200"/>
              </a:spcBef>
              <a:defRPr sz="1300">
                <a:solidFill>
                  <a:srgbClr val="323232"/>
                </a:solidFill>
              </a:defRPr>
            </a:pPr>
            <a:r>
              <a:t>• GMROI Maximization: Preserve gross margin dollars while accelerating inventory turnover.</a:t>
            </a:r>
          </a:p>
          <a:p>
            <a:pPr>
              <a:spcBef>
                <a:spcPts val="1200"/>
              </a:spcBef>
              <a:defRPr sz="1300">
                <a:solidFill>
                  <a:srgbClr val="323232"/>
                </a:solidFill>
              </a:defRPr>
            </a:pPr>
            <a:r>
              <a:t>• Dynamic Markdown Tiers: Tailor bundle discounts (15-25%) to maximize total basket profitability.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1025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137160"/>
            <a:ext cx="105156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 b="1">
                <a:solidFill>
                  <a:srgbClr val="0072CE"/>
                </a:solidFill>
              </a:defRPr>
            </a:pPr>
            <a:r>
              <a:t>RETAIL STRATEGY &amp; SUPPLY CHAIN ANALYTICS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365760"/>
            <a:ext cx="10515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solidFill>
                  <a:srgbClr val="FFFFFF"/>
                </a:solidFill>
              </a:defRPr>
            </a:pPr>
            <a:r>
              <a:t>End-to-End Analytical Framework &amp; Architecture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2011680"/>
            <a:ext cx="2468880" cy="3840480"/>
          </a:xfrm>
          <a:prstGeom prst="roundRect">
            <a:avLst/>
          </a:prstGeom>
          <a:solidFill>
            <a:srgbClr val="F5F7FA"/>
          </a:solidFill>
          <a:ln w="25400">
            <a:solidFill>
              <a:srgbClr val="0072C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800" b="1">
                <a:solidFill>
                  <a:srgbClr val="0072CE"/>
                </a:solidFill>
              </a:defRPr>
            </a:pPr>
            <a:r>
              <a:t>01</a:t>
            </a:r>
          </a:p>
          <a:p>
            <a:pPr>
              <a:spcBef>
                <a:spcPts val="1000"/>
              </a:spcBef>
              <a:defRPr sz="1400" b="1">
                <a:solidFill>
                  <a:srgbClr val="102542"/>
                </a:solidFill>
              </a:defRPr>
            </a:pPr>
            <a:r>
              <a:t>Pillar 1: Data Pipeline</a:t>
            </a:r>
          </a:p>
          <a:p>
            <a:pPr>
              <a:spcBef>
                <a:spcPts val="1000"/>
              </a:spcBef>
              <a:defRPr sz="1200">
                <a:solidFill>
                  <a:srgbClr val="323232"/>
                </a:solidFill>
              </a:defRPr>
            </a:pPr>
            <a:r>
              <a:t>Clean real-world sales transactions &amp; customer review text logs.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474720" y="2011680"/>
            <a:ext cx="2468880" cy="3840480"/>
          </a:xfrm>
          <a:prstGeom prst="roundRect">
            <a:avLst/>
          </a:prstGeom>
          <a:solidFill>
            <a:srgbClr val="F5F7FA"/>
          </a:solidFill>
          <a:ln w="25400">
            <a:solidFill>
              <a:srgbClr val="10254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800" b="1">
                <a:solidFill>
                  <a:srgbClr val="102542"/>
                </a:solidFill>
              </a:defRPr>
            </a:pPr>
            <a:r>
              <a:t>02</a:t>
            </a:r>
          </a:p>
          <a:p>
            <a:pPr>
              <a:spcBef>
                <a:spcPts val="1000"/>
              </a:spcBef>
              <a:defRPr sz="1400" b="1">
                <a:solidFill>
                  <a:srgbClr val="102542"/>
                </a:solidFill>
              </a:defRPr>
            </a:pPr>
            <a:r>
              <a:t>Pillar 2: GMROI &amp; ABC</a:t>
            </a:r>
          </a:p>
          <a:p>
            <a:pPr>
              <a:spcBef>
                <a:spcPts val="1000"/>
              </a:spcBef>
              <a:defRPr sz="1200">
                <a:solidFill>
                  <a:srgbClr val="323232"/>
                </a:solidFill>
              </a:defRPr>
            </a:pPr>
            <a:r>
              <a:t>Categorize inventory into A/B/C velocity tiers &amp; calculate GMROI index.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17920" y="2011680"/>
            <a:ext cx="2468880" cy="3840480"/>
          </a:xfrm>
          <a:prstGeom prst="roundRect">
            <a:avLst/>
          </a:prstGeom>
          <a:solidFill>
            <a:srgbClr val="F5F7FA"/>
          </a:solidFill>
          <a:ln w="25400">
            <a:solidFill>
              <a:srgbClr val="0072C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800" b="1">
                <a:solidFill>
                  <a:srgbClr val="0072CE"/>
                </a:solidFill>
              </a:defRPr>
            </a:pPr>
            <a:r>
              <a:t>03</a:t>
            </a:r>
          </a:p>
          <a:p>
            <a:pPr>
              <a:spcBef>
                <a:spcPts val="1000"/>
              </a:spcBef>
              <a:defRPr sz="1400" b="1">
                <a:solidFill>
                  <a:srgbClr val="102542"/>
                </a:solidFill>
              </a:defRPr>
            </a:pPr>
            <a:r>
              <a:t>Pillar 3: Market Basket AI</a:t>
            </a:r>
          </a:p>
          <a:p>
            <a:pPr>
              <a:spcBef>
                <a:spcPts val="1000"/>
              </a:spcBef>
              <a:defRPr sz="1200">
                <a:solidFill>
                  <a:srgbClr val="323232"/>
                </a:solidFill>
              </a:defRPr>
            </a:pPr>
            <a:r>
              <a:t>Mine Apriori association rules (Support, Confidence, Lift) for bundles.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961120" y="2011680"/>
            <a:ext cx="2468880" cy="3840480"/>
          </a:xfrm>
          <a:prstGeom prst="roundRect">
            <a:avLst/>
          </a:prstGeom>
          <a:solidFill>
            <a:srgbClr val="F5F7FA"/>
          </a:solidFill>
          <a:ln w="25400">
            <a:solidFill>
              <a:srgbClr val="228B2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800" b="1">
                <a:solidFill>
                  <a:srgbClr val="228B22"/>
                </a:solidFill>
              </a:defRPr>
            </a:pPr>
            <a:r>
              <a:t>04</a:t>
            </a:r>
          </a:p>
          <a:p>
            <a:pPr>
              <a:spcBef>
                <a:spcPts val="1000"/>
              </a:spcBef>
              <a:defRPr sz="1400" b="1">
                <a:solidFill>
                  <a:srgbClr val="102542"/>
                </a:solidFill>
              </a:defRPr>
            </a:pPr>
            <a:r>
              <a:t>Pillar 4: Dynamic Markdown</a:t>
            </a:r>
          </a:p>
          <a:p>
            <a:pPr>
              <a:spcBef>
                <a:spcPts val="1000"/>
              </a:spcBef>
              <a:defRPr sz="1200">
                <a:solidFill>
                  <a:srgbClr val="323232"/>
                </a:solidFill>
              </a:defRPr>
            </a:pPr>
            <a:r>
              <a:t>Optimize bundle discount tiers to maximize net profit recovery.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1025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137160"/>
            <a:ext cx="105156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 b="1">
                <a:solidFill>
                  <a:srgbClr val="0072CE"/>
                </a:solidFill>
              </a:defRPr>
            </a:pPr>
            <a:r>
              <a:t>RETAIL STRATEGY &amp; SUPPLY CHAIN ANALYTICS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365760"/>
            <a:ext cx="10515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solidFill>
                  <a:srgbClr val="FFFFFF"/>
                </a:solidFill>
              </a:defRPr>
            </a:pPr>
            <a:r>
              <a:t>Inventory Portfolio Diagnostics: ABC Classification &amp; GMROI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280160"/>
            <a:ext cx="10698480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1">
                <a:solidFill>
                  <a:srgbClr val="102542"/>
                </a:solidFill>
              </a:defRPr>
            </a:pPr>
            <a:r>
              <a:t>Pareto Velocity Distribution &amp; Inventory Capital Efficiency</a:t>
            </a:r>
          </a:p>
          <a:p>
            <a:pPr>
              <a:spcBef>
                <a:spcPts val="1400"/>
              </a:spcBef>
              <a:defRPr sz="1400">
                <a:solidFill>
                  <a:srgbClr val="323232"/>
                </a:solidFill>
              </a:defRPr>
            </a:pPr>
            <a:r>
              <a:t>• Class A SKUs (Top 70% Revenue): High velocity anchors. Target GMROI &gt; 3.0. Must never be discounted standalone.</a:t>
            </a:r>
          </a:p>
          <a:p>
            <a:pPr>
              <a:spcBef>
                <a:spcPts val="1400"/>
              </a:spcBef>
              <a:defRPr sz="1400">
                <a:solidFill>
                  <a:srgbClr val="323232"/>
                </a:solidFill>
              </a:defRPr>
            </a:pPr>
            <a:r>
              <a:t>• Class B SKUs (Next 20% Revenue): Moderate movers. Balanced inventory turnover and healthy gross margins.</a:t>
            </a:r>
          </a:p>
          <a:p>
            <a:pPr>
              <a:spcBef>
                <a:spcPts val="1400"/>
              </a:spcBef>
              <a:defRPr sz="1400">
                <a:solidFill>
                  <a:srgbClr val="323232"/>
                </a:solidFill>
              </a:defRPr>
            </a:pPr>
            <a:r>
              <a:t>• Class C SKUs (Tail 10% Revenue): Slow-moving inventory representing 28.0% of total stock capital ($331,869).</a:t>
            </a:r>
          </a:p>
          <a:p>
            <a:pPr>
              <a:spcBef>
                <a:spcPts val="1400"/>
              </a:spcBef>
              <a:defRPr sz="1400">
                <a:solidFill>
                  <a:srgbClr val="323232"/>
                </a:solidFill>
              </a:defRPr>
            </a:pPr>
            <a:r>
              <a:t>• Dead Stock Risk (GMROI &lt; 1.2): 1,072 SKUs locking up $155,339 in unproductive working capital.</a:t>
            </a:r>
          </a:p>
          <a:p>
            <a:pPr>
              <a:spcBef>
                <a:spcPts val="1400"/>
              </a:spcBef>
              <a:defRPr sz="1400">
                <a:solidFill>
                  <a:srgbClr val="323232"/>
                </a:solidFill>
              </a:defRPr>
            </a:pPr>
            <a:r>
              <a:t>• Strategic Objective: Use Class A anchors as traffic drivers to clear Class C inventory via smart co-purchasing bundles.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1025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137160"/>
            <a:ext cx="105156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 b="1">
                <a:solidFill>
                  <a:srgbClr val="0072CE"/>
                </a:solidFill>
              </a:defRPr>
            </a:pPr>
            <a:r>
              <a:t>RETAIL STRATEGY &amp; SUPPLY CHAIN ANALYTICS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365760"/>
            <a:ext cx="10515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solidFill>
                  <a:srgbClr val="FFFFFF"/>
                </a:solidFill>
              </a:defRPr>
            </a:pPr>
            <a:r>
              <a:t>NLP Customer Review Diagnostics: Root Cause Isolation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828800"/>
            <a:ext cx="3291840" cy="4114800"/>
          </a:xfrm>
          <a:prstGeom prst="roundRect">
            <a:avLst/>
          </a:prstGeom>
          <a:solidFill>
            <a:srgbClr val="F5F7FA"/>
          </a:solidFill>
          <a:ln w="25400">
            <a:solidFill>
              <a:srgbClr val="228B2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600" b="1">
                <a:solidFill>
                  <a:srgbClr val="228B22"/>
                </a:solidFill>
              </a:defRPr>
            </a:pPr>
            <a:r>
              <a:t>Price Resistance</a:t>
            </a:r>
          </a:p>
          <a:p>
            <a:pPr>
              <a:spcBef>
                <a:spcPts val="1500"/>
              </a:spcBef>
              <a:defRPr sz="1300">
                <a:solidFill>
                  <a:srgbClr val="323232"/>
                </a:solidFill>
              </a:defRPr>
            </a:pPr>
            <a:r>
              <a:t>Feedback indicating item is overpriced or poor value. Solvable by bundle discounts.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297680" y="1828800"/>
            <a:ext cx="3291840" cy="4114800"/>
          </a:xfrm>
          <a:prstGeom prst="roundRect">
            <a:avLst/>
          </a:prstGeom>
          <a:solidFill>
            <a:srgbClr val="F5F7FA"/>
          </a:solidFill>
          <a:ln w="25400">
            <a:solidFill>
              <a:srgbClr val="D9534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600" b="1">
                <a:solidFill>
                  <a:srgbClr val="D9534F"/>
                </a:solidFill>
              </a:defRPr>
            </a:pPr>
            <a:r>
              <a:t>Sizing / Fit Flaws</a:t>
            </a:r>
          </a:p>
          <a:p>
            <a:pPr>
              <a:spcBef>
                <a:spcPts val="1500"/>
              </a:spcBef>
              <a:defRPr sz="1300">
                <a:solidFill>
                  <a:srgbClr val="323232"/>
                </a:solidFill>
              </a:defRPr>
            </a:pPr>
            <a:r>
              <a:t>Complaints about incorrect sizing or poor cut. Slashes won't fix high return rates.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863840" y="1828800"/>
            <a:ext cx="3291840" cy="4114800"/>
          </a:xfrm>
          <a:prstGeom prst="roundRect">
            <a:avLst/>
          </a:prstGeom>
          <a:solidFill>
            <a:srgbClr val="F5F7FA"/>
          </a:solidFill>
          <a:ln w="25400">
            <a:solidFill>
              <a:srgbClr val="0072C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600" b="1">
                <a:solidFill>
                  <a:srgbClr val="0072CE"/>
                </a:solidFill>
              </a:defRPr>
            </a:pPr>
            <a:r>
              <a:t>Fabric / Quality Issues</a:t>
            </a:r>
          </a:p>
          <a:p>
            <a:pPr>
              <a:spcBef>
                <a:spcPts val="1500"/>
              </a:spcBef>
              <a:defRPr sz="1300">
                <a:solidFill>
                  <a:srgbClr val="323232"/>
                </a:solidFill>
              </a:defRPr>
            </a:pPr>
            <a:r>
              <a:t>Issues with material durability or color fading. Candidate for vendor return.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1025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137160"/>
            <a:ext cx="105156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 b="1">
                <a:solidFill>
                  <a:srgbClr val="0072CE"/>
                </a:solidFill>
              </a:defRPr>
            </a:pPr>
            <a:r>
              <a:t>RETAIL STRATEGY &amp; SUPPLY CHAIN ANALYTICS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365760"/>
            <a:ext cx="10515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solidFill>
                  <a:srgbClr val="FFFFFF"/>
                </a:solidFill>
              </a:defRPr>
            </a:pPr>
            <a:r>
              <a:t>Market Basket Analysis: Apriori Co-Purchasing Rules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280160"/>
            <a:ext cx="10698480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1">
                <a:solidFill>
                  <a:srgbClr val="102542"/>
                </a:solidFill>
              </a:defRPr>
            </a:pPr>
            <a:r>
              <a:t>Uncovering Product Affinity &amp; Cross-Selling Pairs</a:t>
            </a:r>
          </a:p>
          <a:p>
            <a:pPr>
              <a:spcBef>
                <a:spcPts val="1400"/>
              </a:spcBef>
              <a:defRPr sz="1400">
                <a:solidFill>
                  <a:srgbClr val="323232"/>
                </a:solidFill>
              </a:defRPr>
            </a:pPr>
            <a:r>
              <a:t>• Support Metric: Frequency of basket co-occurrence across transactions (min_support = 0.005).</a:t>
            </a:r>
          </a:p>
          <a:p>
            <a:pPr>
              <a:spcBef>
                <a:spcPts val="1400"/>
              </a:spcBef>
              <a:defRPr sz="1400">
                <a:solidFill>
                  <a:srgbClr val="323232"/>
                </a:solidFill>
              </a:defRPr>
            </a:pPr>
            <a:r>
              <a:t>• Confidence Metric: Conditional probability of buying Slow-Mover B given Anchor A is in cart.</a:t>
            </a:r>
          </a:p>
          <a:p>
            <a:pPr>
              <a:spcBef>
                <a:spcPts val="1400"/>
              </a:spcBef>
              <a:defRPr sz="1400">
                <a:solidFill>
                  <a:srgbClr val="323232"/>
                </a:solidFill>
              </a:defRPr>
            </a:pPr>
            <a:r>
              <a:t>• Lift Metric (Lift &gt; 1.2): Quantifies how much more frequently two items are bought together than by random chance.</a:t>
            </a:r>
          </a:p>
          <a:p>
            <a:pPr>
              <a:spcBef>
                <a:spcPts val="1400"/>
              </a:spcBef>
              <a:defRPr sz="1400">
                <a:solidFill>
                  <a:srgbClr val="323232"/>
                </a:solidFill>
              </a:defRPr>
            </a:pPr>
            <a:r>
              <a:t>• High-Lift Bundle Pairing: Pairing high-lift accessories/apparel anchors with stagnant C-Class stock guarantees natural customer interest.</a:t>
            </a:r>
          </a:p>
          <a:p>
            <a:pPr>
              <a:spcBef>
                <a:spcPts val="1400"/>
              </a:spcBef>
              <a:defRPr sz="1400">
                <a:solidFill>
                  <a:srgbClr val="323232"/>
                </a:solidFill>
              </a:defRPr>
            </a:pPr>
            <a:r>
              <a:t>• Cross-Category Synergies: Combining footwear anchors with slow-moving clothing items yields highest bundle conversion.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1025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137160"/>
            <a:ext cx="105156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 b="1">
                <a:solidFill>
                  <a:srgbClr val="0072CE"/>
                </a:solidFill>
              </a:defRPr>
            </a:pPr>
            <a:r>
              <a:t>RETAIL STRATEGY &amp; SUPPLY CHAIN ANALYTICS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365760"/>
            <a:ext cx="10515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solidFill>
                  <a:srgbClr val="FFFFFF"/>
                </a:solidFill>
              </a:defRPr>
            </a:pPr>
            <a:r>
              <a:t>Dynamic Markdown Strategy vs. Standalone Clearance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280160"/>
            <a:ext cx="10698480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1">
                <a:solidFill>
                  <a:srgbClr val="102542"/>
                </a:solidFill>
              </a:defRPr>
            </a:pPr>
            <a:r>
              <a:t>Mathematical Model for Margin Protection</a:t>
            </a:r>
          </a:p>
          <a:p>
            <a:pPr>
              <a:spcBef>
                <a:spcPts val="1200"/>
              </a:spcBef>
              <a:defRPr sz="1400">
                <a:solidFill>
                  <a:srgbClr val="323232"/>
                </a:solidFill>
              </a:defRPr>
            </a:pPr>
            <a:r>
              <a:t>1. Standalone Clearance: 50% price slash severely erodes gross margin dollars, risking cash recovery below inventory unit cost.</a:t>
            </a:r>
          </a:p>
          <a:p>
            <a:pPr>
              <a:spcBef>
                <a:spcPts val="1200"/>
              </a:spcBef>
              <a:defRPr sz="1400">
                <a:solidFill>
                  <a:srgbClr val="323232"/>
                </a:solidFill>
              </a:defRPr>
            </a:pPr>
            <a:r>
              <a:t>2. Smart Bundle Pricing: 15%–20% discount applied across co-purchased pair (Anchor + Slow Mover) mined via Apriori rules.</a:t>
            </a:r>
          </a:p>
          <a:p>
            <a:pPr>
              <a:spcBef>
                <a:spcPts val="1200"/>
              </a:spcBef>
              <a:defRPr sz="1400">
                <a:solidFill>
                  <a:srgbClr val="323232"/>
                </a:solidFill>
              </a:defRPr>
            </a:pPr>
            <a:r>
              <a:t>3. Selective Margin Accretion: Bundles are accretive only when Anchor/Slow price ratio &lt;= 1.50 (at 20% discount); extreme price gaps destroy anchor margin.</a:t>
            </a:r>
          </a:p>
          <a:p>
            <a:pPr>
              <a:spcBef>
                <a:spcPts val="1200"/>
              </a:spcBef>
              <a:defRPr sz="1400">
                <a:solidFill>
                  <a:srgbClr val="323232"/>
                </a:solidFill>
              </a:defRPr>
            </a:pPr>
            <a:r>
              <a:t>4. Algorithmic Gatekeeper: Engine selectively approves 16 of 50 mined bundles for bundling while routing price-asymmetric pairs to targeted clearance.</a:t>
            </a:r>
          </a:p>
          <a:p>
            <a:pPr>
              <a:spcBef>
                <a:spcPts val="1200"/>
              </a:spcBef>
              <a:defRPr sz="1400">
                <a:solidFill>
                  <a:srgbClr val="323232"/>
                </a:solidFill>
              </a:defRPr>
            </a:pPr>
            <a:r>
              <a:t>5. Working Capital Optimization: Protects high-velocity anchor margin dollars while systematically unlocking stagnant C-Class stock.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1025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137160"/>
            <a:ext cx="105156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 b="1">
                <a:solidFill>
                  <a:srgbClr val="0072CE"/>
                </a:solidFill>
              </a:defRPr>
            </a:pPr>
            <a:r>
              <a:t>RETAIL STRATEGY &amp; SUPPLY CHAIN ANALYTICS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365760"/>
            <a:ext cx="10515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solidFill>
                  <a:srgbClr val="FFFFFF"/>
                </a:solidFill>
              </a:defRPr>
            </a:pPr>
            <a:r>
              <a:t>Financial Impact &amp; Inventory Risk Analysis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645920"/>
            <a:ext cx="10698480" cy="4389120"/>
          </a:xfrm>
          <a:prstGeom prst="roundRect">
            <a:avLst/>
          </a:prstGeom>
          <a:solidFill>
            <a:srgbClr val="F5F7FA"/>
          </a:solidFill>
          <a:ln w="25400">
            <a:solidFill>
              <a:srgbClr val="228B2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800" b="1">
                <a:solidFill>
                  <a:srgbClr val="228B22"/>
                </a:solidFill>
              </a:defRPr>
            </a:pPr>
            <a:r>
              <a:t>Empirical Findings &amp; Portfolio Analytics Summary</a:t>
            </a:r>
          </a:p>
          <a:p>
            <a:pPr>
              <a:spcBef>
                <a:spcPts val="1600"/>
              </a:spcBef>
              <a:defRPr sz="1400">
                <a:solidFill>
                  <a:srgbClr val="323232"/>
                </a:solidFill>
              </a:defRPr>
            </a:pPr>
            <a:r>
              <a:t>• Catalog Risk Exposure: Identified 2,609 slow-moving C-Class SKUs (66.5% of catalog) generating 10% of revenue.</a:t>
            </a:r>
          </a:p>
          <a:p>
            <a:pPr>
              <a:spcBef>
                <a:spcPts val="1600"/>
              </a:spcBef>
              <a:defRPr sz="1400">
                <a:solidFill>
                  <a:srgbClr val="323232"/>
                </a:solidFill>
              </a:defRPr>
            </a:pPr>
            <a:r>
              <a:t>• Trapped Inventory Capital: $155,339 in capital trapped across 1,072 dead stock SKUs with GMROI &lt; 1.20x.</a:t>
            </a:r>
          </a:p>
          <a:p>
            <a:pPr>
              <a:spcBef>
                <a:spcPts val="1600"/>
              </a:spcBef>
              <a:defRPr sz="1400">
                <a:solidFill>
                  <a:srgbClr val="323232"/>
                </a:solidFill>
              </a:defRPr>
            </a:pPr>
            <a:r>
              <a:t>• Sentiment Root Causes: 53.9% of negative reviews driven by sizing/fit flaws where price discounting is counterproductive.</a:t>
            </a:r>
          </a:p>
          <a:p>
            <a:pPr>
              <a:spcBef>
                <a:spcPts val="1600"/>
              </a:spcBef>
              <a:defRPr sz="1400">
                <a:solidFill>
                  <a:srgbClr val="323232"/>
                </a:solidFill>
              </a:defRPr>
            </a:pPr>
            <a:r>
              <a:t>• High-Affinity Cross-Tier Bundles: Mined 50 bundle pairs combining anchors and slow-movers with an average Lift of 4.83x.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1025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137160"/>
            <a:ext cx="105156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 b="1">
                <a:solidFill>
                  <a:srgbClr val="0072CE"/>
                </a:solidFill>
              </a:defRPr>
            </a:pPr>
            <a:r>
              <a:t>RETAIL STRATEGY &amp; SUPPLY CHAIN ANALYTICS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365760"/>
            <a:ext cx="10515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solidFill>
                  <a:srgbClr val="FFFFFF"/>
                </a:solidFill>
              </a:defRPr>
            </a:pPr>
            <a:r>
              <a:t>Interactive Merchandising Control Tower &amp; Power BI Specs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280160"/>
            <a:ext cx="10698480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1">
                <a:solidFill>
                  <a:srgbClr val="102542"/>
                </a:solidFill>
              </a:defRPr>
            </a:pPr>
            <a:r>
              <a:t>Decision Support Portal Features</a:t>
            </a:r>
          </a:p>
          <a:p>
            <a:pPr>
              <a:spcBef>
                <a:spcPts val="1400"/>
              </a:spcBef>
              <a:defRPr sz="1400">
                <a:solidFill>
                  <a:srgbClr val="323232"/>
                </a:solidFill>
              </a:defRPr>
            </a:pPr>
            <a:r>
              <a:t>• Executive Overview: Real-time inventory capital at risk, average GMROI, and clearance targets.</a:t>
            </a:r>
          </a:p>
          <a:p>
            <a:pPr>
              <a:spcBef>
                <a:spcPts val="1400"/>
              </a:spcBef>
              <a:defRPr sz="1400">
                <a:solidFill>
                  <a:srgbClr val="323232"/>
                </a:solidFill>
              </a:defRPr>
            </a:pPr>
            <a:r>
              <a:t>• Interactive Bundle Simulator: Select any slow-moving SKU, pair with recommended anchors, adjust discount slider, and view real-time margin delta.</a:t>
            </a:r>
          </a:p>
          <a:p>
            <a:pPr>
              <a:spcBef>
                <a:spcPts val="1400"/>
              </a:spcBef>
              <a:defRPr sz="1400">
                <a:solidFill>
                  <a:srgbClr val="323232"/>
                </a:solidFill>
              </a:defRPr>
            </a:pPr>
            <a:r>
              <a:t>• Review Sentiment Deep-Dive: Filter products by sentiment polarity and inspect root cause word clouds.</a:t>
            </a:r>
          </a:p>
          <a:p>
            <a:pPr>
              <a:spcBef>
                <a:spcPts val="1400"/>
              </a:spcBef>
              <a:defRPr sz="1400">
                <a:solidFill>
                  <a:srgbClr val="323232"/>
                </a:solidFill>
              </a:defRPr>
            </a:pPr>
            <a:r>
              <a:t>• Power BI / Tableau Export: Pre-configured DAX calculated measures (GMROI, ABC Class, Lift, Margin Recovery).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1025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137160"/>
            <a:ext cx="105156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 b="1">
                <a:solidFill>
                  <a:srgbClr val="0072CE"/>
                </a:solidFill>
              </a:defRPr>
            </a:pPr>
            <a:r>
              <a:t>RETAIL STRATEGY &amp; SUPPLY CHAIN ANALYTICS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365760"/>
            <a:ext cx="10515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solidFill>
                  <a:srgbClr val="FFFFFF"/>
                </a:solidFill>
              </a:defRPr>
            </a:pPr>
            <a:r>
              <a:t>Strategic Recommendations &amp; Action Plan Roadmap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463040"/>
            <a:ext cx="10698480" cy="1005840"/>
          </a:xfrm>
          <a:prstGeom prst="roundRect">
            <a:avLst/>
          </a:prstGeom>
          <a:solidFill>
            <a:srgbClr val="F5F7FA"/>
          </a:solidFill>
          <a:ln w="19050">
            <a:solidFill>
              <a:srgbClr val="0072C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400" b="1">
                <a:solidFill>
                  <a:srgbClr val="102542"/>
                </a:solidFill>
              </a:defRPr>
            </a:pPr>
            <a:r>
              <a:t>Phase 1: Automated Alerts</a:t>
            </a:r>
          </a:p>
          <a:p>
            <a:pPr>
              <a:spcBef>
                <a:spcPts val="400"/>
              </a:spcBef>
              <a:defRPr sz="1200">
                <a:solidFill>
                  <a:srgbClr val="323232"/>
                </a:solidFill>
              </a:defRPr>
            </a:pPr>
            <a:r>
              <a:t>Deploy automated GMROI &lt; 1.2 triggers in ERP to flag stagnant SKUs at Day 45.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2651760"/>
            <a:ext cx="10698480" cy="1005840"/>
          </a:xfrm>
          <a:prstGeom prst="roundRect">
            <a:avLst/>
          </a:prstGeom>
          <a:solidFill>
            <a:srgbClr val="F5F7FA"/>
          </a:solidFill>
          <a:ln w="19050">
            <a:solidFill>
              <a:srgbClr val="0072C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400" b="1">
                <a:solidFill>
                  <a:srgbClr val="102542"/>
                </a:solidFill>
              </a:defRPr>
            </a:pPr>
            <a:r>
              <a:t>Phase 2: Sentiment Filtering</a:t>
            </a:r>
          </a:p>
          <a:p>
            <a:pPr>
              <a:spcBef>
                <a:spcPts val="400"/>
              </a:spcBef>
              <a:defRPr sz="1200">
                <a:solidFill>
                  <a:srgbClr val="323232"/>
                </a:solidFill>
              </a:defRPr>
            </a:pPr>
            <a:r>
              <a:t>Run NLP sentiment diagnostics to separate pricing issues from sizing defects.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3840480"/>
            <a:ext cx="10698480" cy="1005840"/>
          </a:xfrm>
          <a:prstGeom prst="roundRect">
            <a:avLst/>
          </a:prstGeom>
          <a:solidFill>
            <a:srgbClr val="F5F7FA"/>
          </a:solidFill>
          <a:ln w="19050">
            <a:solidFill>
              <a:srgbClr val="0072C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400" b="1">
                <a:solidFill>
                  <a:srgbClr val="102542"/>
                </a:solidFill>
              </a:defRPr>
            </a:pPr>
            <a:r>
              <a:t>Phase 3: Automated Bundling</a:t>
            </a:r>
          </a:p>
          <a:p>
            <a:pPr>
              <a:spcBef>
                <a:spcPts val="400"/>
              </a:spcBef>
              <a:defRPr sz="1200">
                <a:solidFill>
                  <a:srgbClr val="323232"/>
                </a:solidFill>
              </a:defRPr>
            </a:pPr>
            <a:r>
              <a:t>Push high-lift Apriori bundle pairs directly to e-commerce recommendation engine.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5029200"/>
            <a:ext cx="10698480" cy="1005840"/>
          </a:xfrm>
          <a:prstGeom prst="roundRect">
            <a:avLst/>
          </a:prstGeom>
          <a:solidFill>
            <a:srgbClr val="F5F7FA"/>
          </a:solidFill>
          <a:ln w="19050">
            <a:solidFill>
              <a:srgbClr val="0072C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400" b="1">
                <a:solidFill>
                  <a:srgbClr val="102542"/>
                </a:solidFill>
              </a:defRPr>
            </a:pPr>
            <a:r>
              <a:t>Phase 4: Dynamic Pricing</a:t>
            </a:r>
          </a:p>
          <a:p>
            <a:pPr>
              <a:spcBef>
                <a:spcPts val="400"/>
              </a:spcBef>
              <a:defRPr sz="1200">
                <a:solidFill>
                  <a:srgbClr val="323232"/>
                </a:solidFill>
              </a:defRPr>
            </a:pPr>
            <a:r>
              <a:t>Automate dynamic 15-20% bundle checkout discounts for targeted inventory.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