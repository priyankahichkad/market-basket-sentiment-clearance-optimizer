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E-Commerce Inventory Markdown &amp;</a:t>
            </a:r>
            <a:br/>
            <a:r>
              <a:t>Basket Sentiment Intelligence</a:t>
            </a:r>
          </a:p>
          <a:p>
            <a:pPr>
              <a:spcBef>
                <a:spcPts val="1500"/>
              </a:spcBef>
              <a:defRPr sz="1800">
                <a:solidFill>
                  <a:srgbClr val="0072CE"/>
                </a:solidFill>
              </a:defRPr>
            </a:pPr>
            <a:r>
              <a:t>Protecting Gross Margin Return on Inventory (GMROI) via Market Basket Bundling &amp; NLP Review Diagnostics</a:t>
            </a:r>
          </a:p>
          <a:p>
            <a:pPr>
              <a:spcBef>
                <a:spcPts val="3000"/>
              </a:spcBef>
              <a:defRPr sz="1300">
                <a:solidFill>
                  <a:srgbClr val="B4C8DC"/>
                </a:solidFill>
              </a:defRPr>
            </a:pPr>
            <a:r>
              <a:t>Target Audience: Chief Merchandising Officer | VP of Supply Chain | Retail Business Analysts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Retail Dilemma: End-of-Season Clearance &amp; Margin Erosion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D9534F"/>
                </a:solidFill>
              </a:defRPr>
            </a:pPr>
            <a:r>
              <a:t>Traditional Clearance Pitfalls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Flat 50-70% Price Slashes: Destroys product brand equity and erodes gross margins below COGS.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Blind Discounting: Slashes prices on items stagnant due to sizing flaws, which discounts won't solve.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Holding Capital Trap: Slow-moving C-Class inventory locks up cash flow and incurs 20-30% annual holding costs.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Siloed Analytics: Merchandisers look at velocity in isolation from customer feedback text.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09360" y="1371600"/>
            <a:ext cx="5120640" cy="47548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The Intelligent Bundling Solution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Data-Driven Co-Purchasing: Pair slow C-Class items with high-demand A-Class anchor products using Apriori algorithm.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Root-Cause NLP Diagnostics: Distinguish pricing resistance from physical quality/fit defects using VADER sentiment.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GMROI Maximization: Preserve gross margin dollars while accelerating inventory turnover.</a:t>
            </a:r>
          </a:p>
          <a:p>
            <a:pPr>
              <a:spcBef>
                <a:spcPts val="1200"/>
              </a:spcBef>
              <a:defRPr sz="1300">
                <a:solidFill>
                  <a:srgbClr val="323232"/>
                </a:solidFill>
              </a:defRPr>
            </a:pPr>
            <a:r>
              <a:t>• Dynamic Markdown Tiers: Tailor bundle discounts (15-25%) to maximize total basket profitability.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End-to-End Analytical Framework &amp;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01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1: Data Pipeline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Clean real-world sales transactions &amp; customer review text logs.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102542"/>
                </a:solidFill>
              </a:defRPr>
            </a:pPr>
            <a:r>
              <a:t>02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2: GMROI &amp; ABC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Categorize inventory into A/B/C velocity tiers &amp; calculate GMROI index.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0072CE"/>
                </a:solidFill>
              </a:defRPr>
            </a:pPr>
            <a:r>
              <a:t>03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3: Market Basket AI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Mine Apriori association rules (Support, Confidence, Lift) for bundles.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61120" y="2011680"/>
            <a:ext cx="2468880" cy="384048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800" b="1">
                <a:solidFill>
                  <a:srgbClr val="228B22"/>
                </a:solidFill>
              </a:defRPr>
            </a:pPr>
            <a:r>
              <a:t>04</a:t>
            </a:r>
          </a:p>
          <a:p>
            <a:pPr>
              <a:spcBef>
                <a:spcPts val="1000"/>
              </a:spcBef>
              <a:defRPr sz="1400" b="1">
                <a:solidFill>
                  <a:srgbClr val="102542"/>
                </a:solidFill>
              </a:defRPr>
            </a:pPr>
            <a:r>
              <a:t>Pillar 4: Dynamic Markdown</a:t>
            </a:r>
          </a:p>
          <a:p>
            <a:pPr>
              <a:spcBef>
                <a:spcPts val="1000"/>
              </a:spcBef>
              <a:defRPr sz="1200">
                <a:solidFill>
                  <a:srgbClr val="323232"/>
                </a:solidFill>
              </a:defRPr>
            </a:pPr>
            <a:r>
              <a:t>Optimize bundle discount tiers to maximize net profit recovery.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Inventory Portfolio Diagnostics: ABC Classification &amp; GMROI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Pareto Velocity Distribution &amp; Inventory Capital Efficiency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A SKUs (Top 70% Revenue): High velocity anchors. Target GMROI &gt; 3.0. Must never be discounted standalone.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B SKUs (Next 20% Revenue): Moderate movers. Balanced inventory turnover and healthy gross margins.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Class C SKUs (Tail 10% Revenue): Slow-moving inventory representing 40%+ of total stock capital.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Dead Stock Risk (GMROI &lt; 1.2): High holding cost burden eating into operating cash flow.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Strategic Objective: Use Class A anchors as traffic drivers to clear Class C inventory via smart co-purchasing bundles.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NLP Customer Review Diagnostics: Root Cause Isolation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228B22"/>
                </a:solidFill>
              </a:defRPr>
            </a:pPr>
            <a:r>
              <a:t>Price Resistance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Feedback indicating item is overpriced or poor value. Solvable by bundle discounts.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8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D953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D9534F"/>
                </a:solidFill>
              </a:defRPr>
            </a:pPr>
            <a:r>
              <a:t>Sizing / Fit Flaws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Complaints about incorrect sizing or poor cut. Slashes won't fix high return rates.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828800"/>
            <a:ext cx="3291840" cy="411480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0072CE"/>
                </a:solidFill>
              </a:defRPr>
            </a:pPr>
            <a:r>
              <a:t>Fabric / Quality Issues</a:t>
            </a:r>
          </a:p>
          <a:p>
            <a:pPr>
              <a:spcBef>
                <a:spcPts val="1500"/>
              </a:spcBef>
              <a:defRPr sz="1300">
                <a:solidFill>
                  <a:srgbClr val="323232"/>
                </a:solidFill>
              </a:defRPr>
            </a:pPr>
            <a:r>
              <a:t>Issues with material durability or color fading. Candidate for vendor return.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Market Basket Analysis: Apriori Co-Purchasing Rules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Uncovering Product Affinity &amp; Cross-Selling Pairs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Support Metric: Frequency of basket co-occurrence across transactions (min_support = 0.005).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Confidence Metric: Conditional probability of buying Slow-Mover B given Anchor A is in cart.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Lift Metric (Lift &gt; 1.2): Quantifies how much more frequently two items are bought together than by random chance.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High-Lift Bundle Pairing: Pairing high-lift accessories/apparel anchors with stagnant C-Class stock guarantees natural customer interest.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Cross-Category Synergies: Combining footwear anchors with slow-moving clothing items yields highest bundle conversion.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Dynamic Markdown Strategy vs. Standalone Clearance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Mathematical Model for Margin Protection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1. Standalone Clearance: 50% price slash severely erodes gross margin dollars, risking cash recovery below inventory unit cost.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2. Smart Bundle Pricing: 15%–20% discount applied across co-purchased pair (Anchor + Slow Mover) mined via Apriori rules.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3. Selective Margin Accretion: Bundles are accretive only when Anchor/Slow price ratio &lt;= 1.50 (at 20% discount); extreme price gaps destroy anchor margin.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4. Algorithmic Gatekeeper: Engine selectively approves 16 of 50 mined bundles for bundling while routing price-asymmetric pairs to targeted clearance.</a:t>
            </a:r>
          </a:p>
          <a:p>
            <a:pPr>
              <a:spcBef>
                <a:spcPts val="1200"/>
              </a:spcBef>
              <a:defRPr sz="1400">
                <a:solidFill>
                  <a:srgbClr val="323232"/>
                </a:solidFill>
              </a:defRPr>
            </a:pPr>
            <a:r>
              <a:t>5. Working Capital Optimization: Protects high-velocity anchor margin dollars while systematically unlocking stagnant C-Class stock.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Financial Impact &amp; Inventory Risk Analysis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10698480" cy="4389120"/>
          </a:xfrm>
          <a:prstGeom prst="roundRect">
            <a:avLst/>
          </a:prstGeom>
          <a:solidFill>
            <a:srgbClr val="F5F7FA"/>
          </a:solidFill>
          <a:ln w="25400">
            <a:solidFill>
              <a:srgbClr val="228B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800" b="1">
                <a:solidFill>
                  <a:srgbClr val="228B22"/>
                </a:solidFill>
              </a:defRPr>
            </a:pPr>
            <a:r>
              <a:t>Empirical Findings &amp; Portfolio Analytics Summary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Catalog Risk Exposure: Identified 2,609 slow-moving C-Class SKUs (66.5% of catalog) generating 10% of revenue.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Trapped Inventory Capital: $155,339 in capital trapped across 1,072 dead stock SKUs with GMROI &lt; 1.20x.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Sentiment Root Causes: 53.9% of negative reviews driven by sizing/fit flaws where price discounting is counterproductive.</a:t>
            </a:r>
          </a:p>
          <a:p>
            <a:pPr>
              <a:spcBef>
                <a:spcPts val="1600"/>
              </a:spcBef>
              <a:defRPr sz="1400">
                <a:solidFill>
                  <a:srgbClr val="323232"/>
                </a:solidFill>
              </a:defRPr>
            </a:pPr>
            <a:r>
              <a:t>• High-Affinity Cross-Tier Bundles: Mined 50 bundle pairs combining anchors and slow-movers with an average Lift of 4.83x.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Interactive Merchandising Control Tower &amp; Power BI Specs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02542"/>
                </a:solidFill>
              </a:defRPr>
            </a:pPr>
            <a:r>
              <a:t>Decision Support Portal Features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Executive Overview: Real-time inventory capital at risk, average GMROI, and clearance targets.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Interactive Bundle Simulator: Select any slow-moving SKU, pair with recommended anchors, adjust discount slider, and view real-time margin delta.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Review Sentiment Deep-Dive: Filter products by sentiment polarity and inspect root cause word clouds.</a:t>
            </a:r>
          </a:p>
          <a:p>
            <a:pPr>
              <a:spcBef>
                <a:spcPts val="1400"/>
              </a:spcBef>
              <a:defRPr sz="1400">
                <a:solidFill>
                  <a:srgbClr val="323232"/>
                </a:solidFill>
              </a:defRPr>
            </a:pPr>
            <a:r>
              <a:t>• Power BI / Tableau Export: Pre-configured DAX calculated measures (GMROI, ABC Class, Lift, Margin Recovery).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025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10515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0072CE"/>
                </a:solidFill>
              </a:defRPr>
            </a:pPr>
            <a:r>
              <a:t>RETAIL STRATEGY &amp; SUPPLY CHAIN ANALYTICS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Strategic Recommendations &amp; Action Plan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1: Automated Alerts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Deploy automated GMROI &lt; 1.2 triggers in ERP to flag stagnant SKUs at Day 45.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65176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2: Sentiment Filtering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Run NLP sentiment diagnostics to separate pricing issues from sizing defects.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84048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3: Automated Bundling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Push high-lift Apriori bundle pairs directly to e-commerce recommendation engine.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029200"/>
            <a:ext cx="10698480" cy="1005840"/>
          </a:xfrm>
          <a:prstGeom prst="roundRect">
            <a:avLst/>
          </a:prstGeom>
          <a:solidFill>
            <a:srgbClr val="F5F7FA"/>
          </a:solidFill>
          <a:ln w="19050">
            <a:solidFill>
              <a:srgbClr val="0072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Phase 4: Dynamic Pricing</a:t>
            </a:r>
          </a:p>
          <a:p>
            <a:pPr>
              <a:spcBef>
                <a:spcPts val="400"/>
              </a:spcBef>
              <a:defRPr sz="1200">
                <a:solidFill>
                  <a:srgbClr val="323232"/>
                </a:solidFill>
              </a:defRPr>
            </a:pPr>
            <a:r>
              <a:t>Automate dynamic 15-20% bundle checkout discounts for targeted inventory.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